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1" r:id="rId3"/>
    <p:sldId id="259" r:id="rId4"/>
    <p:sldId id="260" r:id="rId5"/>
    <p:sldId id="258" r:id="rId6"/>
    <p:sldId id="257" r:id="rId7"/>
    <p:sldId id="262" r:id="rId8"/>
    <p:sldId id="263" r:id="rId9"/>
    <p:sldId id="264" r:id="rId10"/>
    <p:sldId id="265" r:id="rId11"/>
    <p:sldId id="269" r:id="rId12"/>
    <p:sldId id="266" r:id="rId13"/>
    <p:sldId id="267" r:id="rId14"/>
    <p:sldId id="268"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6311" autoAdjust="0"/>
  </p:normalViewPr>
  <p:slideViewPr>
    <p:cSldViewPr snapToGrid="0">
      <p:cViewPr varScale="1">
        <p:scale>
          <a:sx n="56" d="100"/>
          <a:sy n="56" d="100"/>
        </p:scale>
        <p:origin x="216" y="72"/>
      </p:cViewPr>
      <p:guideLst/>
    </p:cSldViewPr>
  </p:slideViewPr>
  <p:notesTextViewPr>
    <p:cViewPr>
      <p:scale>
        <a:sx n="1" d="1"/>
        <a:sy n="1" d="1"/>
      </p:scale>
      <p:origin x="0" y="-774"/>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DB6127-7A13-451E-ADEA-97B5BE4C5EB9}" type="datetimeFigureOut">
              <a:rPr lang="zh-CN" altLang="en-US" smtClean="0"/>
              <a:t>2017/12/8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24038-A327-4C06-8EE7-0DA5486A94E0}" type="slidenum">
              <a:rPr lang="zh-CN" altLang="en-US" smtClean="0"/>
              <a:t>‹#›</a:t>
            </a:fld>
            <a:endParaRPr lang="zh-CN" altLang="en-US"/>
          </a:p>
        </p:txBody>
      </p:sp>
    </p:spTree>
    <p:extLst>
      <p:ext uri="{BB962C8B-B14F-4D97-AF65-F5344CB8AC3E}">
        <p14:creationId xmlns:p14="http://schemas.microsoft.com/office/powerpoint/2010/main" val="1890799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smtClean="0"/>
              <a:t>“如何削弱电路中的寄生电容效应？”</a:t>
            </a: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密</a:t>
            </a:r>
            <a:r>
              <a:rPr lang="zh-CN" altLang="en-US" dirty="0" smtClean="0"/>
              <a:t>勒效应（通信电路）</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smtClean="0"/>
              <a:t>“一个高斯信号和另一个高斯信号的卷积是高斯信号吗？”</a:t>
            </a: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高斯</a:t>
            </a:r>
            <a:r>
              <a:rPr lang="zh-CN" altLang="en-US" dirty="0" smtClean="0"/>
              <a:t>信号的频域表示</a:t>
            </a:r>
            <a:r>
              <a:rPr lang="zh-CN" altLang="en-US" baseline="0" dirty="0" smtClean="0"/>
              <a:t> </a:t>
            </a:r>
            <a:r>
              <a:rPr lang="en-US" altLang="zh-CN" dirty="0" smtClean="0"/>
              <a:t>+ </a:t>
            </a:r>
            <a:r>
              <a:rPr lang="zh-CN" altLang="en-US" dirty="0" smtClean="0"/>
              <a:t>卷积定理（信号与系统</a:t>
            </a:r>
            <a:r>
              <a:rPr lang="zh-CN" altLang="en-US" dirty="0" smtClean="0"/>
              <a:t>）</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smtClean="0"/>
              <a:t>“如何消除递归？”</a:t>
            </a: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推导</a:t>
            </a:r>
            <a:r>
              <a:rPr lang="zh-CN" altLang="en-US" dirty="0" smtClean="0"/>
              <a:t>数学表达式（程设）</a:t>
            </a:r>
            <a:r>
              <a:rPr lang="en-US" altLang="zh-CN" dirty="0" smtClean="0"/>
              <a:t>+ </a:t>
            </a:r>
            <a:r>
              <a:rPr lang="zh-CN" altLang="en-US" dirty="0" smtClean="0"/>
              <a:t>定义显式栈保存断点（数算）</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smtClean="0"/>
              <a:t>“信号带宽和信道带宽的物理含义？”</a:t>
            </a: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信号</a:t>
            </a:r>
            <a:r>
              <a:rPr lang="zh-CN" altLang="en-US" dirty="0" smtClean="0"/>
              <a:t>带宽（信号与系统）</a:t>
            </a:r>
            <a:r>
              <a:rPr lang="en-US" altLang="zh-CN" dirty="0" smtClean="0"/>
              <a:t>+ </a:t>
            </a:r>
            <a:r>
              <a:rPr lang="zh-CN" altLang="en-US" dirty="0" smtClean="0"/>
              <a:t>信道带宽（通信与网络）</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smtClean="0"/>
              <a:t>“NMOS</a:t>
            </a:r>
            <a:r>
              <a:rPr lang="zh-CN" altLang="en-US" b="1" dirty="0" smtClean="0"/>
              <a:t>和</a:t>
            </a:r>
            <a:r>
              <a:rPr lang="en-US" altLang="zh-CN" b="1" dirty="0" smtClean="0"/>
              <a:t>PMOS</a:t>
            </a:r>
            <a:r>
              <a:rPr lang="zh-CN" altLang="en-US" b="1" dirty="0" smtClean="0"/>
              <a:t>的导通速度哪个快？</a:t>
            </a:r>
            <a:r>
              <a:rPr lang="en-US" altLang="zh-CN" b="1" dirty="0" smtClean="0"/>
              <a:t>”</a:t>
            </a:r>
          </a:p>
          <a:p>
            <a:r>
              <a:rPr lang="en-US" altLang="zh-CN" dirty="0" smtClean="0"/>
              <a:t>    NMOS</a:t>
            </a:r>
            <a:r>
              <a:rPr lang="zh-CN" altLang="en-US" dirty="0" smtClean="0"/>
              <a:t>的多子是电子，电子迁移率大（电电）</a:t>
            </a:r>
            <a:r>
              <a:rPr lang="zh-CN" altLang="en-US" baseline="0" dirty="0" smtClean="0"/>
              <a:t>迁移率大是因为有效质量小（固体物理</a:t>
            </a:r>
            <a:r>
              <a:rPr lang="zh-CN" altLang="en-US" baseline="0" dirty="0" smtClean="0"/>
              <a:t>）</a:t>
            </a:r>
            <a:endParaRPr lang="en-US" altLang="zh-CN" baseline="0" smtClean="0"/>
          </a:p>
          <a:p>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smtClean="0"/>
              <a:t>“能否用神经网络设计通信接收机？”</a:t>
            </a:r>
            <a:endParaRPr lang="en-US" altLang="zh-C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smtClean="0"/>
              <a:t>“音频信号在封闭屋子内经过反复随机折射与反射后得到的随机过程是否为高斯过程？”</a:t>
            </a:r>
          </a:p>
        </p:txBody>
      </p:sp>
      <p:sp>
        <p:nvSpPr>
          <p:cNvPr id="4" name="灯片编号占位符 3"/>
          <p:cNvSpPr>
            <a:spLocks noGrp="1"/>
          </p:cNvSpPr>
          <p:nvPr>
            <p:ph type="sldNum" sz="quarter" idx="10"/>
          </p:nvPr>
        </p:nvSpPr>
        <p:spPr/>
        <p:txBody>
          <a:bodyPr/>
          <a:lstStyle/>
          <a:p>
            <a:fld id="{D4A24038-A327-4C06-8EE7-0DA5486A94E0}" type="slidenum">
              <a:rPr lang="zh-CN" altLang="en-US" smtClean="0"/>
              <a:t>9</a:t>
            </a:fld>
            <a:endParaRPr lang="zh-CN" altLang="en-US"/>
          </a:p>
        </p:txBody>
      </p:sp>
    </p:spTree>
    <p:extLst>
      <p:ext uri="{BB962C8B-B14F-4D97-AF65-F5344CB8AC3E}">
        <p14:creationId xmlns:p14="http://schemas.microsoft.com/office/powerpoint/2010/main" val="1208310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基础知识</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课内讲过的名词定义（高斯过程、卷积等）</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常用概念的区别与辨析，（流水线 </a:t>
            </a:r>
            <a:r>
              <a:rPr lang="en-US" altLang="zh-CN" dirty="0" smtClean="0"/>
              <a:t>&amp; </a:t>
            </a:r>
            <a:r>
              <a:rPr lang="zh-CN" altLang="en-US" dirty="0" smtClean="0"/>
              <a:t>单周期、</a:t>
            </a:r>
            <a:r>
              <a:rPr lang="en-US" altLang="zh-CN" dirty="0" smtClean="0"/>
              <a:t>NMOS &amp; PMOS</a:t>
            </a:r>
            <a:r>
              <a:rPr lang="zh-CN" altLang="en-US" dirty="0" smtClean="0"/>
              <a:t>）</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细节</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“对称二进制信道” 在</a:t>
            </a:r>
            <a:r>
              <a:rPr lang="en-US" altLang="zh-CN" dirty="0" smtClean="0"/>
              <a:t>785</a:t>
            </a:r>
            <a:r>
              <a:rPr lang="zh-CN" altLang="en-US" dirty="0" smtClean="0"/>
              <a:t>页课件中只讲了</a:t>
            </a:r>
            <a:r>
              <a:rPr lang="en-US" altLang="zh-CN" b="1" dirty="0" smtClean="0"/>
              <a:t>3</a:t>
            </a:r>
            <a:r>
              <a:rPr lang="zh-CN" altLang="en-US" b="1" dirty="0" smtClean="0"/>
              <a:t>页</a:t>
            </a:r>
            <a:r>
              <a:rPr lang="zh-CN" altLang="en-US" dirty="0" smtClean="0"/>
              <a:t>，而且是在</a:t>
            </a:r>
            <a:r>
              <a:rPr lang="zh-CN" altLang="en-US" b="1" dirty="0" smtClean="0"/>
              <a:t>绪论课</a:t>
            </a:r>
            <a:r>
              <a:rPr lang="zh-CN" altLang="en-US" dirty="0" smtClean="0"/>
              <a:t>中</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实验课知识点（</a:t>
            </a:r>
            <a:r>
              <a:rPr lang="en-US" altLang="zh-CN" dirty="0" smtClean="0"/>
              <a:t>Verilog </a:t>
            </a:r>
            <a:r>
              <a:rPr lang="zh-CN" altLang="en-US" dirty="0" smtClean="0"/>
              <a:t>中 ‘</a:t>
            </a:r>
            <a:r>
              <a:rPr lang="en-US" altLang="zh-CN" dirty="0" smtClean="0"/>
              <a:t>=</a:t>
            </a:r>
            <a:r>
              <a:rPr lang="zh-CN" altLang="en-US" dirty="0" smtClean="0"/>
              <a:t>’ 和 </a:t>
            </a:r>
            <a:r>
              <a:rPr lang="en-US" altLang="zh-CN" dirty="0" smtClean="0"/>
              <a:t>‘&lt;=’ </a:t>
            </a:r>
            <a:r>
              <a:rPr lang="zh-CN" altLang="en-US" dirty="0" smtClean="0"/>
              <a:t>）</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    </a:t>
            </a:r>
            <a:r>
              <a:rPr lang="zh-CN" altLang="en-US" dirty="0" smtClean="0"/>
              <a:t>数算里的二元关系</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问题</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“计算机中从按下键盘上的一个键到显示屏上显示出对应字符的全过程？”</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    “一个系统能否同时为最小相移系统和线性相移系统”</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p:txBody>
      </p:sp>
      <p:sp>
        <p:nvSpPr>
          <p:cNvPr id="4" name="灯片编号占位符 3"/>
          <p:cNvSpPr>
            <a:spLocks noGrp="1"/>
          </p:cNvSpPr>
          <p:nvPr>
            <p:ph type="sldNum" sz="quarter" idx="10"/>
          </p:nvPr>
        </p:nvSpPr>
        <p:spPr/>
        <p:txBody>
          <a:bodyPr/>
          <a:lstStyle/>
          <a:p>
            <a:fld id="{D4A24038-A327-4C06-8EE7-0DA5486A94E0}" type="slidenum">
              <a:rPr lang="zh-CN" altLang="en-US" smtClean="0"/>
              <a:t>10</a:t>
            </a:fld>
            <a:endParaRPr lang="zh-CN" altLang="en-US"/>
          </a:p>
        </p:txBody>
      </p:sp>
    </p:spTree>
    <p:extLst>
      <p:ext uri="{BB962C8B-B14F-4D97-AF65-F5344CB8AC3E}">
        <p14:creationId xmlns:p14="http://schemas.microsoft.com/office/powerpoint/2010/main" val="3273880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数学、物理：注重上课认真听讲，因为老师的逻辑都很清晰，如果完全跟住老师的话其实很简单</a:t>
            </a:r>
            <a:endParaRPr lang="en-US" altLang="zh-CN" dirty="0" smtClean="0"/>
          </a:p>
          <a:p>
            <a:r>
              <a:rPr lang="zh-CN" altLang="en-US" dirty="0" smtClean="0"/>
              <a:t>计算机：注重课下的探究，有些东西是约定俗成的，比如各种协议、各种算法；在熟记的基础上多想想为什么这么规定，深入探究、理解</a:t>
            </a:r>
            <a:endParaRPr lang="zh-CN" altLang="en-US" dirty="0"/>
          </a:p>
        </p:txBody>
      </p:sp>
      <p:sp>
        <p:nvSpPr>
          <p:cNvPr id="4" name="灯片编号占位符 3"/>
          <p:cNvSpPr>
            <a:spLocks noGrp="1"/>
          </p:cNvSpPr>
          <p:nvPr>
            <p:ph type="sldNum" sz="quarter" idx="10"/>
          </p:nvPr>
        </p:nvSpPr>
        <p:spPr/>
        <p:txBody>
          <a:bodyPr/>
          <a:lstStyle/>
          <a:p>
            <a:fld id="{D4A24038-A327-4C06-8EE7-0DA5486A94E0}" type="slidenum">
              <a:rPr lang="zh-CN" altLang="en-US" smtClean="0"/>
              <a:t>11</a:t>
            </a:fld>
            <a:endParaRPr lang="zh-CN" altLang="en-US"/>
          </a:p>
        </p:txBody>
      </p:sp>
    </p:spTree>
    <p:extLst>
      <p:ext uri="{BB962C8B-B14F-4D97-AF65-F5344CB8AC3E}">
        <p14:creationId xmlns:p14="http://schemas.microsoft.com/office/powerpoint/2010/main" val="4079761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逻辑关系：</a:t>
            </a:r>
            <a:r>
              <a:rPr lang="en-US" altLang="zh-CN" dirty="0" smtClean="0"/>
              <a:t>NMOS &amp; PMOS </a:t>
            </a:r>
            <a:r>
              <a:rPr lang="zh-CN" altLang="en-US" dirty="0" smtClean="0"/>
              <a:t>导通速度差异 </a:t>
            </a:r>
            <a:r>
              <a:rPr lang="en-US" altLang="zh-CN" dirty="0" smtClean="0">
                <a:sym typeface="Wingdings" panose="05000000000000000000" pitchFamily="2" charset="2"/>
              </a:rPr>
              <a:t> </a:t>
            </a:r>
            <a:r>
              <a:rPr lang="zh-CN" altLang="en-US" dirty="0" smtClean="0">
                <a:sym typeface="Wingdings" panose="05000000000000000000" pitchFamily="2" charset="2"/>
              </a:rPr>
              <a:t>区别在于多子运动速度不同 </a:t>
            </a:r>
            <a:r>
              <a:rPr lang="en-US" altLang="zh-CN" dirty="0" smtClean="0">
                <a:sym typeface="Wingdings" panose="05000000000000000000" pitchFamily="2" charset="2"/>
              </a:rPr>
              <a:t> </a:t>
            </a:r>
            <a:r>
              <a:rPr lang="zh-CN" altLang="en-US" dirty="0" smtClean="0">
                <a:sym typeface="Wingdings" panose="05000000000000000000" pitchFamily="2" charset="2"/>
              </a:rPr>
              <a:t>运动速度不同是因为迁移率不同 </a:t>
            </a:r>
            <a:r>
              <a:rPr lang="en-US" altLang="zh-CN" dirty="0" smtClean="0">
                <a:sym typeface="Wingdings" panose="05000000000000000000" pitchFamily="2" charset="2"/>
              </a:rPr>
              <a:t> </a:t>
            </a:r>
            <a:r>
              <a:rPr lang="zh-CN" altLang="en-US" dirty="0" smtClean="0">
                <a:sym typeface="Wingdings" panose="05000000000000000000" pitchFamily="2" charset="2"/>
              </a:rPr>
              <a:t>迁移率不同是因为有效质量不同</a:t>
            </a:r>
            <a:endParaRPr lang="zh-CN" altLang="en-US" dirty="0"/>
          </a:p>
        </p:txBody>
      </p:sp>
      <p:sp>
        <p:nvSpPr>
          <p:cNvPr id="4" name="灯片编号占位符 3"/>
          <p:cNvSpPr>
            <a:spLocks noGrp="1"/>
          </p:cNvSpPr>
          <p:nvPr>
            <p:ph type="sldNum" sz="quarter" idx="10"/>
          </p:nvPr>
        </p:nvSpPr>
        <p:spPr/>
        <p:txBody>
          <a:bodyPr/>
          <a:lstStyle/>
          <a:p>
            <a:fld id="{D4A24038-A327-4C06-8EE7-0DA5486A94E0}" type="slidenum">
              <a:rPr lang="zh-CN" altLang="en-US" smtClean="0"/>
              <a:t>12</a:t>
            </a:fld>
            <a:endParaRPr lang="zh-CN" altLang="en-US"/>
          </a:p>
        </p:txBody>
      </p:sp>
    </p:spTree>
    <p:extLst>
      <p:ext uri="{BB962C8B-B14F-4D97-AF65-F5344CB8AC3E}">
        <p14:creationId xmlns:p14="http://schemas.microsoft.com/office/powerpoint/2010/main" val="3498501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2352965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452488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619574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1800848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2081340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2569324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3929053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3898844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219933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641771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414DD06-AC39-4A13-B016-C99FFBBB6B21}" type="datetimeFigureOut">
              <a:rPr lang="zh-CN" altLang="en-US" smtClean="0"/>
              <a:t>2017/12/8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2950836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14DD06-AC39-4A13-B016-C99FFBBB6B21}" type="datetimeFigureOut">
              <a:rPr lang="zh-CN" altLang="en-US" smtClean="0"/>
              <a:t>2017/12/8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4FA673-6A02-4E1E-A5B3-190D9164CE7E}" type="slidenum">
              <a:rPr lang="zh-CN" altLang="en-US" smtClean="0"/>
              <a:t>‹#›</a:t>
            </a:fld>
            <a:endParaRPr lang="zh-CN" altLang="en-US"/>
          </a:p>
        </p:txBody>
      </p:sp>
    </p:spTree>
    <p:extLst>
      <p:ext uri="{BB962C8B-B14F-4D97-AF65-F5344CB8AC3E}">
        <p14:creationId xmlns:p14="http://schemas.microsoft.com/office/powerpoint/2010/main" val="1782269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本</a:t>
            </a:r>
            <a:r>
              <a:rPr lang="zh-CN" altLang="en-US" dirty="0" smtClean="0"/>
              <a:t>系推研</a:t>
            </a:r>
            <a:endParaRPr lang="zh-CN" altLang="en-US" dirty="0"/>
          </a:p>
        </p:txBody>
      </p:sp>
      <p:sp>
        <p:nvSpPr>
          <p:cNvPr id="3" name="副标题 2"/>
          <p:cNvSpPr>
            <a:spLocks noGrp="1"/>
          </p:cNvSpPr>
          <p:nvPr>
            <p:ph type="subTitle" idx="1"/>
          </p:nvPr>
        </p:nvSpPr>
        <p:spPr>
          <a:xfrm>
            <a:off x="1524000" y="4277541"/>
            <a:ext cx="9144000" cy="1655762"/>
          </a:xfrm>
        </p:spPr>
        <p:txBody>
          <a:bodyPr/>
          <a:lstStyle/>
          <a:p>
            <a:r>
              <a:rPr lang="zh-CN" altLang="en-US" dirty="0" smtClean="0"/>
              <a:t>无</a:t>
            </a:r>
            <a:r>
              <a:rPr lang="en-US" altLang="zh-CN" dirty="0" smtClean="0"/>
              <a:t>42 </a:t>
            </a:r>
            <a:r>
              <a:rPr lang="zh-CN" altLang="en-US" dirty="0" smtClean="0"/>
              <a:t>陈誉博</a:t>
            </a:r>
            <a:endParaRPr lang="en-US" altLang="zh-CN" dirty="0" smtClean="0"/>
          </a:p>
          <a:p>
            <a:r>
              <a:rPr lang="en-US" altLang="zh-CN" dirty="0" smtClean="0"/>
              <a:t>2017.12.09</a:t>
            </a:r>
            <a:endParaRPr lang="zh-CN" altLang="en-US" dirty="0"/>
          </a:p>
        </p:txBody>
      </p:sp>
    </p:spTree>
    <p:extLst>
      <p:ext uri="{BB962C8B-B14F-4D97-AF65-F5344CB8AC3E}">
        <p14:creationId xmlns:p14="http://schemas.microsoft.com/office/powerpoint/2010/main" val="33797351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48713" y="2751439"/>
            <a:ext cx="9144000" cy="1055086"/>
          </a:xfrm>
        </p:spPr>
        <p:txBody>
          <a:bodyPr>
            <a:normAutofit/>
          </a:bodyPr>
          <a:lstStyle/>
          <a:p>
            <a:r>
              <a:rPr lang="zh-CN" altLang="en-US" dirty="0" smtClean="0"/>
              <a:t>基本情况</a:t>
            </a:r>
            <a:endParaRPr lang="zh-CN" altLang="en-US" dirty="0"/>
          </a:p>
        </p:txBody>
      </p:sp>
    </p:spTree>
    <p:extLst>
      <p:ext uri="{BB962C8B-B14F-4D97-AF65-F5344CB8AC3E}">
        <p14:creationId xmlns:p14="http://schemas.microsoft.com/office/powerpoint/2010/main" val="8478830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一些基本概念</a:t>
            </a:r>
            <a:endParaRPr lang="en-US" altLang="zh-CN" dirty="0" smtClean="0"/>
          </a:p>
        </p:txBody>
      </p:sp>
      <p:sp>
        <p:nvSpPr>
          <p:cNvPr id="3" name="内容占位符 2"/>
          <p:cNvSpPr>
            <a:spLocks noGrp="1"/>
          </p:cNvSpPr>
          <p:nvPr>
            <p:ph idx="1"/>
          </p:nvPr>
        </p:nvSpPr>
        <p:spPr/>
        <p:txBody>
          <a:bodyPr/>
          <a:lstStyle/>
          <a:p>
            <a:r>
              <a:rPr lang="zh-CN" altLang="en-US" dirty="0" smtClean="0"/>
              <a:t>两个学科</a:t>
            </a:r>
            <a:endParaRPr lang="en-US" altLang="zh-CN" dirty="0" smtClean="0"/>
          </a:p>
          <a:p>
            <a:pPr lvl="1"/>
            <a:r>
              <a:rPr lang="zh-CN" altLang="en-US" dirty="0" smtClean="0"/>
              <a:t>电子科学与技术</a:t>
            </a:r>
            <a:endParaRPr lang="en-US" altLang="zh-CN" dirty="0" smtClean="0"/>
          </a:p>
          <a:p>
            <a:pPr lvl="2"/>
            <a:r>
              <a:rPr lang="zh-CN" altLang="en-US" dirty="0"/>
              <a:t>光电</a:t>
            </a:r>
            <a:r>
              <a:rPr lang="zh-CN" altLang="en-US" dirty="0" smtClean="0"/>
              <a:t>所、线路所、微波所</a:t>
            </a:r>
            <a:endParaRPr lang="en-US" altLang="zh-CN" dirty="0" smtClean="0"/>
          </a:p>
          <a:p>
            <a:pPr lvl="1"/>
            <a:r>
              <a:rPr lang="zh-CN" altLang="en-US" dirty="0" smtClean="0"/>
              <a:t>信息与通信工程</a:t>
            </a:r>
            <a:endParaRPr lang="en-US" altLang="zh-CN" dirty="0" smtClean="0"/>
          </a:p>
          <a:p>
            <a:pPr lvl="2"/>
            <a:r>
              <a:rPr lang="zh-CN" altLang="en-US" dirty="0"/>
              <a:t>图</a:t>
            </a:r>
            <a:r>
              <a:rPr lang="zh-CN" altLang="en-US" dirty="0" smtClean="0"/>
              <a:t>信所、通信所、信检所</a:t>
            </a:r>
            <a:endParaRPr lang="en-US" altLang="zh-CN" dirty="0" smtClean="0"/>
          </a:p>
          <a:p>
            <a:r>
              <a:rPr lang="zh-CN" altLang="en-US" dirty="0" smtClean="0"/>
              <a:t>两种名额（直博）</a:t>
            </a:r>
            <a:endParaRPr lang="en-US" altLang="zh-CN" dirty="0" smtClean="0"/>
          </a:p>
          <a:p>
            <a:pPr lvl="1"/>
            <a:r>
              <a:rPr lang="zh-CN" altLang="en-US" dirty="0" smtClean="0"/>
              <a:t>固定名额</a:t>
            </a:r>
            <a:endParaRPr lang="en-US" altLang="zh-CN" dirty="0" smtClean="0"/>
          </a:p>
          <a:p>
            <a:pPr lvl="2"/>
            <a:r>
              <a:rPr lang="zh-CN" altLang="en-US" dirty="0" smtClean="0"/>
              <a:t>老师能够提前给出承诺的名额</a:t>
            </a:r>
            <a:endParaRPr lang="en-US" altLang="zh-CN" dirty="0" smtClean="0"/>
          </a:p>
          <a:p>
            <a:pPr lvl="1"/>
            <a:r>
              <a:rPr lang="zh-CN" altLang="en-US" dirty="0" smtClean="0"/>
              <a:t>非固定名额</a:t>
            </a:r>
            <a:endParaRPr lang="en-US" altLang="zh-CN" dirty="0" smtClean="0"/>
          </a:p>
          <a:p>
            <a:pPr lvl="2"/>
            <a:r>
              <a:rPr lang="zh-CN" altLang="en-US" dirty="0" smtClean="0"/>
              <a:t>并不是老师手里的名额，归属于某个学科的流动名额</a:t>
            </a:r>
            <a:endParaRPr lang="en-US" altLang="zh-CN" dirty="0" smtClean="0"/>
          </a:p>
          <a:p>
            <a:pPr lvl="1"/>
            <a:endParaRPr lang="zh-CN" altLang="en-US" dirty="0"/>
          </a:p>
        </p:txBody>
      </p:sp>
    </p:spTree>
    <p:extLst>
      <p:ext uri="{BB962C8B-B14F-4D97-AF65-F5344CB8AC3E}">
        <p14:creationId xmlns:p14="http://schemas.microsoft.com/office/powerpoint/2010/main" val="55496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固定名额 </a:t>
            </a:r>
            <a:r>
              <a:rPr lang="en-US" altLang="zh-CN" dirty="0" smtClean="0"/>
              <a:t>&amp; </a:t>
            </a:r>
            <a:r>
              <a:rPr lang="zh-CN" altLang="en-US" dirty="0" smtClean="0"/>
              <a:t>非固定名额</a:t>
            </a:r>
            <a:endParaRPr lang="zh-CN" altLang="en-US" dirty="0"/>
          </a:p>
        </p:txBody>
      </p:sp>
      <p:sp>
        <p:nvSpPr>
          <p:cNvPr id="3" name="内容占位符 2"/>
          <p:cNvSpPr>
            <a:spLocks noGrp="1"/>
          </p:cNvSpPr>
          <p:nvPr>
            <p:ph idx="1"/>
          </p:nvPr>
        </p:nvSpPr>
        <p:spPr/>
        <p:txBody>
          <a:bodyPr/>
          <a:lstStyle/>
          <a:p>
            <a:r>
              <a:rPr lang="zh-CN" altLang="en-US" dirty="0" smtClean="0"/>
              <a:t>固定名额</a:t>
            </a:r>
            <a:endParaRPr lang="en-US" altLang="zh-CN" dirty="0" smtClean="0"/>
          </a:p>
          <a:p>
            <a:pPr lvl="1"/>
            <a:r>
              <a:rPr lang="zh-CN" altLang="en-US" dirty="0" smtClean="0"/>
              <a:t>名额固定到老师</a:t>
            </a:r>
            <a:endParaRPr lang="en-US" altLang="zh-CN" dirty="0" smtClean="0"/>
          </a:p>
          <a:p>
            <a:pPr lvl="1"/>
            <a:r>
              <a:rPr lang="zh-CN" altLang="en-US" dirty="0" smtClean="0"/>
              <a:t>决定权也在于老师</a:t>
            </a:r>
            <a:endParaRPr lang="en-US" altLang="zh-CN" dirty="0" smtClean="0"/>
          </a:p>
          <a:p>
            <a:pPr lvl="1"/>
            <a:endParaRPr lang="en-US" altLang="zh-CN" dirty="0"/>
          </a:p>
          <a:p>
            <a:r>
              <a:rPr lang="zh-CN" altLang="en-US" dirty="0" smtClean="0"/>
              <a:t>非固定名额</a:t>
            </a:r>
            <a:endParaRPr lang="en-US" altLang="zh-CN" dirty="0" smtClean="0"/>
          </a:p>
          <a:p>
            <a:pPr lvl="1"/>
            <a:r>
              <a:rPr lang="zh-CN" altLang="en-US" dirty="0" smtClean="0"/>
              <a:t>名额固定到某一个学科，老师没有完全的决定权</a:t>
            </a:r>
            <a:endParaRPr lang="en-US" altLang="zh-CN" dirty="0" smtClean="0"/>
          </a:p>
          <a:p>
            <a:pPr lvl="1"/>
            <a:r>
              <a:rPr lang="zh-CN" altLang="en-US" b="1" dirty="0" smtClean="0"/>
              <a:t>设某个学科有</a:t>
            </a:r>
            <a:r>
              <a:rPr lang="en-US" altLang="zh-CN" b="1" dirty="0" smtClean="0"/>
              <a:t>N</a:t>
            </a:r>
            <a:r>
              <a:rPr lang="zh-CN" altLang="en-US" b="1" dirty="0" smtClean="0"/>
              <a:t>个名额，则所有报了该学科非固定名额老师的同学按照面试成绩排名，取前</a:t>
            </a:r>
            <a:r>
              <a:rPr lang="en-US" altLang="zh-CN" b="1" dirty="0" smtClean="0"/>
              <a:t>N</a:t>
            </a:r>
            <a:r>
              <a:rPr lang="zh-CN" altLang="en-US" b="1" dirty="0" smtClean="0"/>
              <a:t>个，按照所报志愿录取</a:t>
            </a:r>
            <a:endParaRPr lang="zh-CN" altLang="en-US" b="1" dirty="0"/>
          </a:p>
        </p:txBody>
      </p:sp>
    </p:spTree>
    <p:extLst>
      <p:ext uri="{BB962C8B-B14F-4D97-AF65-F5344CB8AC3E}">
        <p14:creationId xmlns:p14="http://schemas.microsoft.com/office/powerpoint/2010/main" val="311274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面试</a:t>
            </a:r>
            <a:endParaRPr lang="zh-CN" altLang="en-US" dirty="0"/>
          </a:p>
        </p:txBody>
      </p:sp>
      <p:sp>
        <p:nvSpPr>
          <p:cNvPr id="3" name="内容占位符 2"/>
          <p:cNvSpPr>
            <a:spLocks noGrp="1"/>
          </p:cNvSpPr>
          <p:nvPr>
            <p:ph idx="1"/>
          </p:nvPr>
        </p:nvSpPr>
        <p:spPr/>
        <p:txBody>
          <a:bodyPr/>
          <a:lstStyle/>
          <a:p>
            <a:r>
              <a:rPr lang="zh-CN" altLang="en-US" dirty="0" smtClean="0"/>
              <a:t>时间：一般在大四秋季学期开学（之前）</a:t>
            </a:r>
            <a:endParaRPr lang="en-US" altLang="zh-CN" dirty="0" smtClean="0"/>
          </a:p>
          <a:p>
            <a:r>
              <a:rPr lang="zh-CN" altLang="en-US" dirty="0" smtClean="0"/>
              <a:t>分组：</a:t>
            </a:r>
            <a:r>
              <a:rPr lang="en-US" altLang="zh-CN" dirty="0" smtClean="0"/>
              <a:t>6</a:t>
            </a:r>
            <a:r>
              <a:rPr lang="zh-CN" altLang="en-US" dirty="0" smtClean="0"/>
              <a:t>个组</a:t>
            </a:r>
            <a:endParaRPr lang="en-US" altLang="zh-CN" dirty="0" smtClean="0"/>
          </a:p>
          <a:p>
            <a:pPr lvl="1"/>
            <a:r>
              <a:rPr lang="zh-CN" altLang="en-US" dirty="0" smtClean="0"/>
              <a:t>综合组，外语组</a:t>
            </a:r>
            <a:endParaRPr lang="en-US" altLang="zh-CN" dirty="0" smtClean="0"/>
          </a:p>
          <a:p>
            <a:pPr lvl="1"/>
            <a:r>
              <a:rPr lang="zh-CN" altLang="en-US" dirty="0" smtClean="0"/>
              <a:t>计算机组，线路组，电磁场与固体物理组，信号组</a:t>
            </a:r>
            <a:endParaRPr lang="en-US" altLang="zh-CN" dirty="0" smtClean="0"/>
          </a:p>
          <a:p>
            <a:r>
              <a:rPr lang="zh-CN" altLang="en-US" dirty="0" smtClean="0"/>
              <a:t>内容：专业核心课、</a:t>
            </a:r>
            <a:r>
              <a:rPr lang="zh-CN" altLang="en-US" b="1" dirty="0" smtClean="0"/>
              <a:t>部分专业限选</a:t>
            </a:r>
            <a:r>
              <a:rPr lang="en-US" altLang="zh-CN" b="1" dirty="0" smtClean="0"/>
              <a:t>/</a:t>
            </a:r>
            <a:r>
              <a:rPr lang="zh-CN" altLang="en-US" b="1" dirty="0"/>
              <a:t>任选</a:t>
            </a:r>
            <a:r>
              <a:rPr lang="zh-CN" altLang="en-US" b="1" dirty="0" smtClean="0"/>
              <a:t>课</a:t>
            </a:r>
            <a:endParaRPr lang="en-US" altLang="zh-CN" b="1" dirty="0" smtClean="0"/>
          </a:p>
          <a:p>
            <a:r>
              <a:rPr lang="zh-CN" altLang="en-US" dirty="0" smtClean="0"/>
              <a:t>形式：每组</a:t>
            </a:r>
            <a:r>
              <a:rPr lang="en-US" altLang="zh-CN" dirty="0" smtClean="0"/>
              <a:t>5</a:t>
            </a:r>
            <a:r>
              <a:rPr lang="zh-CN" altLang="en-US" dirty="0" smtClean="0"/>
              <a:t>分钟，</a:t>
            </a:r>
            <a:r>
              <a:rPr lang="en-US" altLang="zh-CN" dirty="0" smtClean="0"/>
              <a:t>6-7</a:t>
            </a:r>
            <a:r>
              <a:rPr lang="zh-CN" altLang="en-US" dirty="0" smtClean="0"/>
              <a:t>个老师自由提问，时间到即停</a:t>
            </a:r>
            <a:endParaRPr lang="en-US" altLang="zh-CN" dirty="0" smtClean="0"/>
          </a:p>
          <a:p>
            <a:endParaRPr lang="zh-CN" altLang="en-US" dirty="0"/>
          </a:p>
        </p:txBody>
      </p:sp>
    </p:spTree>
    <p:extLst>
      <p:ext uri="{BB962C8B-B14F-4D97-AF65-F5344CB8AC3E}">
        <p14:creationId xmlns:p14="http://schemas.microsoft.com/office/powerpoint/2010/main" val="234905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推研难不难？</a:t>
            </a:r>
            <a:endParaRPr lang="zh-CN" altLang="en-US" dirty="0"/>
          </a:p>
        </p:txBody>
      </p:sp>
      <p:sp>
        <p:nvSpPr>
          <p:cNvPr id="3" name="内容占位符 2"/>
          <p:cNvSpPr>
            <a:spLocks noGrp="1"/>
          </p:cNvSpPr>
          <p:nvPr>
            <p:ph idx="1"/>
          </p:nvPr>
        </p:nvSpPr>
        <p:spPr/>
        <p:txBody>
          <a:bodyPr/>
          <a:lstStyle/>
          <a:p>
            <a:r>
              <a:rPr lang="zh-CN" altLang="en-US" dirty="0" smtClean="0"/>
              <a:t>如果目标只是推研，难度不大</a:t>
            </a:r>
            <a:endParaRPr lang="en-US" altLang="zh-CN" dirty="0" smtClean="0"/>
          </a:p>
          <a:p>
            <a:pPr lvl="1"/>
            <a:r>
              <a:rPr lang="zh-CN" altLang="en-US" dirty="0"/>
              <a:t>光电</a:t>
            </a:r>
            <a:r>
              <a:rPr lang="zh-CN" altLang="en-US" dirty="0" smtClean="0"/>
              <a:t>所、微波所等有较多固定名额</a:t>
            </a:r>
            <a:endParaRPr lang="en-US" altLang="zh-CN" dirty="0" smtClean="0"/>
          </a:p>
          <a:p>
            <a:pPr lvl="1"/>
            <a:r>
              <a:rPr lang="zh-CN" altLang="en-US" dirty="0" smtClean="0"/>
              <a:t>天津院、深研院等硕士项目也有较多名额</a:t>
            </a:r>
            <a:endParaRPr lang="en-US" altLang="zh-CN" dirty="0" smtClean="0"/>
          </a:p>
          <a:p>
            <a:pPr marL="0" indent="0">
              <a:buNone/>
            </a:pPr>
            <a:endParaRPr lang="en-US" altLang="zh-CN" dirty="0"/>
          </a:p>
          <a:p>
            <a:r>
              <a:rPr lang="zh-CN" altLang="en-US" dirty="0" smtClean="0"/>
              <a:t>如果想要自由选择方向，竞争非常激烈</a:t>
            </a:r>
            <a:endParaRPr lang="en-US" altLang="zh-CN" dirty="0" smtClean="0"/>
          </a:p>
          <a:p>
            <a:pPr lvl="1"/>
            <a:r>
              <a:rPr lang="zh-CN" altLang="en-US" dirty="0"/>
              <a:t>图</a:t>
            </a:r>
            <a:r>
              <a:rPr lang="zh-CN" altLang="en-US" dirty="0" smtClean="0"/>
              <a:t>信所</a:t>
            </a:r>
            <a:r>
              <a:rPr lang="zh-CN" altLang="en-US" b="1" dirty="0" smtClean="0"/>
              <a:t>人气最高，名额最少</a:t>
            </a:r>
            <a:r>
              <a:rPr lang="zh-CN" altLang="en-US" dirty="0" smtClean="0"/>
              <a:t>（</a:t>
            </a:r>
            <a:r>
              <a:rPr lang="en-US" altLang="zh-CN" dirty="0" smtClean="0"/>
              <a:t>3</a:t>
            </a:r>
            <a:r>
              <a:rPr lang="zh-CN" altLang="en-US" dirty="0" smtClean="0"/>
              <a:t>个固定</a:t>
            </a:r>
            <a:r>
              <a:rPr lang="en-US" altLang="zh-CN" dirty="0" smtClean="0"/>
              <a:t>+</a:t>
            </a:r>
            <a:r>
              <a:rPr lang="zh-CN" altLang="en-US" dirty="0" smtClean="0"/>
              <a:t>信通学科</a:t>
            </a:r>
            <a:r>
              <a:rPr lang="en-US" altLang="zh-CN" dirty="0" smtClean="0"/>
              <a:t>3</a:t>
            </a:r>
            <a:r>
              <a:rPr lang="zh-CN" altLang="en-US" dirty="0" smtClean="0"/>
              <a:t>个</a:t>
            </a:r>
            <a:r>
              <a:rPr lang="zh-CN" altLang="en-US" dirty="0"/>
              <a:t>非固定</a:t>
            </a:r>
            <a:r>
              <a:rPr lang="zh-CN" altLang="en-US" dirty="0" smtClean="0"/>
              <a:t>）</a:t>
            </a:r>
            <a:endParaRPr lang="en-US" altLang="zh-CN" dirty="0" smtClean="0"/>
          </a:p>
          <a:p>
            <a:pPr lvl="1"/>
            <a:r>
              <a:rPr lang="zh-CN" altLang="en-US" dirty="0" smtClean="0"/>
              <a:t>老师选择固定名额人选时会参考</a:t>
            </a:r>
            <a:r>
              <a:rPr lang="en-US" altLang="zh-CN" dirty="0" smtClean="0"/>
              <a:t>GPA</a:t>
            </a:r>
          </a:p>
          <a:p>
            <a:pPr lvl="1"/>
            <a:r>
              <a:rPr lang="zh-CN" altLang="en-US" dirty="0" smtClean="0"/>
              <a:t>硕士录取顺序就是</a:t>
            </a:r>
            <a:r>
              <a:rPr lang="zh-CN" altLang="en-US" b="1" dirty="0" smtClean="0"/>
              <a:t>面试成绩排名顺序</a:t>
            </a:r>
            <a:endParaRPr lang="en-US" altLang="zh-CN" b="1" dirty="0" smtClean="0"/>
          </a:p>
        </p:txBody>
      </p:sp>
    </p:spTree>
    <p:extLst>
      <p:ext uri="{BB962C8B-B14F-4D97-AF65-F5344CB8AC3E}">
        <p14:creationId xmlns:p14="http://schemas.microsoft.com/office/powerpoint/2010/main" val="248814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48713" y="2751439"/>
            <a:ext cx="9144000" cy="1055086"/>
          </a:xfrm>
        </p:spPr>
        <p:txBody>
          <a:bodyPr>
            <a:normAutofit/>
          </a:bodyPr>
          <a:lstStyle/>
          <a:p>
            <a:r>
              <a:rPr lang="zh-CN" altLang="en-US" dirty="0" smtClean="0"/>
              <a:t>如何准备</a:t>
            </a:r>
            <a:endParaRPr lang="zh-CN" altLang="en-US" dirty="0"/>
          </a:p>
        </p:txBody>
      </p:sp>
    </p:spTree>
    <p:extLst>
      <p:ext uri="{BB962C8B-B14F-4D97-AF65-F5344CB8AC3E}">
        <p14:creationId xmlns:p14="http://schemas.microsoft.com/office/powerpoint/2010/main" val="3315321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面试内容</a:t>
            </a:r>
            <a:endParaRPr lang="zh-CN" altLang="en-US" dirty="0"/>
          </a:p>
        </p:txBody>
      </p:sp>
      <p:sp>
        <p:nvSpPr>
          <p:cNvPr id="3" name="内容占位符 2"/>
          <p:cNvSpPr>
            <a:spLocks noGrp="1"/>
          </p:cNvSpPr>
          <p:nvPr>
            <p:ph idx="1"/>
          </p:nvPr>
        </p:nvSpPr>
        <p:spPr/>
        <p:txBody>
          <a:bodyPr/>
          <a:lstStyle/>
          <a:p>
            <a:r>
              <a:rPr lang="zh-CN" altLang="en-US" dirty="0" smtClean="0"/>
              <a:t>涉及所有专业核心课 </a:t>
            </a:r>
            <a:r>
              <a:rPr lang="en-US" altLang="zh-CN" dirty="0" smtClean="0"/>
              <a:t>&amp; </a:t>
            </a:r>
            <a:r>
              <a:rPr lang="zh-CN" altLang="en-US" b="1" dirty="0" smtClean="0"/>
              <a:t>部分专业限选</a:t>
            </a:r>
            <a:r>
              <a:rPr lang="en-US" altLang="zh-CN" b="1" dirty="0" smtClean="0"/>
              <a:t>/</a:t>
            </a:r>
            <a:r>
              <a:rPr lang="zh-CN" altLang="en-US" b="1" dirty="0" smtClean="0"/>
              <a:t>任选课</a:t>
            </a:r>
            <a:endParaRPr lang="en-US" altLang="zh-CN" b="1" dirty="0" smtClean="0"/>
          </a:p>
          <a:p>
            <a:pPr lvl="1"/>
            <a:r>
              <a:rPr lang="zh-CN" altLang="en-US" dirty="0" smtClean="0"/>
              <a:t>专业核心课</a:t>
            </a:r>
            <a:endParaRPr lang="en-US" altLang="zh-CN" dirty="0" smtClean="0"/>
          </a:p>
          <a:p>
            <a:pPr lvl="2"/>
            <a:r>
              <a:rPr lang="zh-CN" altLang="en-US" dirty="0" smtClean="0"/>
              <a:t>电磁场与波、固体物理基础、电磁场与微波实验</a:t>
            </a:r>
            <a:endParaRPr lang="en-US" altLang="zh-CN" dirty="0" smtClean="0"/>
          </a:p>
          <a:p>
            <a:pPr lvl="2"/>
            <a:r>
              <a:rPr lang="zh-CN" altLang="en-US" dirty="0"/>
              <a:t>程</a:t>
            </a:r>
            <a:r>
              <a:rPr lang="zh-CN" altLang="en-US" dirty="0" smtClean="0"/>
              <a:t>设、数算、数字逻辑与处理器、通信与网络、媒体与认知</a:t>
            </a:r>
            <a:endParaRPr lang="en-US" altLang="zh-CN" dirty="0" smtClean="0"/>
          </a:p>
          <a:p>
            <a:pPr lvl="2"/>
            <a:r>
              <a:rPr lang="zh-CN" altLang="en-US" b="1" dirty="0"/>
              <a:t>电</a:t>
            </a:r>
            <a:r>
              <a:rPr lang="zh-CN" altLang="en-US" b="1" dirty="0" smtClean="0"/>
              <a:t>电</a:t>
            </a:r>
            <a:r>
              <a:rPr lang="zh-CN" altLang="en-US" dirty="0" smtClean="0"/>
              <a:t>、电电实验、数字逻辑与处理器实验</a:t>
            </a:r>
            <a:endParaRPr lang="en-US" altLang="zh-CN" dirty="0" smtClean="0"/>
          </a:p>
          <a:p>
            <a:pPr lvl="2"/>
            <a:r>
              <a:rPr lang="zh-CN" altLang="en-US" dirty="0" smtClean="0"/>
              <a:t>信号与系统、概率论与随机过程、</a:t>
            </a:r>
            <a:r>
              <a:rPr lang="en-US" altLang="zh-CN" dirty="0" smtClean="0"/>
              <a:t>MATLAB</a:t>
            </a:r>
            <a:r>
              <a:rPr lang="zh-CN" altLang="en-US" dirty="0" smtClean="0"/>
              <a:t>实验</a:t>
            </a:r>
            <a:endParaRPr lang="en-US" altLang="zh-CN" dirty="0" smtClean="0"/>
          </a:p>
          <a:p>
            <a:pPr lvl="1"/>
            <a:r>
              <a:rPr lang="zh-CN" altLang="en-US" dirty="0" smtClean="0"/>
              <a:t>专业限选</a:t>
            </a:r>
            <a:r>
              <a:rPr lang="en-US" altLang="zh-CN" dirty="0" smtClean="0"/>
              <a:t>/</a:t>
            </a:r>
            <a:r>
              <a:rPr lang="zh-CN" altLang="en-US" dirty="0" smtClean="0"/>
              <a:t>任选课</a:t>
            </a:r>
            <a:endParaRPr lang="en-US" altLang="zh-CN" dirty="0" smtClean="0"/>
          </a:p>
          <a:p>
            <a:pPr lvl="2"/>
            <a:r>
              <a:rPr lang="zh-CN" altLang="en-US" b="1" dirty="0" smtClean="0"/>
              <a:t>操作系统</a:t>
            </a:r>
            <a:r>
              <a:rPr lang="zh-CN" altLang="en-US" dirty="0" smtClean="0"/>
              <a:t>、计算机网络</a:t>
            </a:r>
            <a:endParaRPr lang="en-US" altLang="zh-CN" dirty="0" smtClean="0"/>
          </a:p>
          <a:p>
            <a:pPr lvl="2"/>
            <a:r>
              <a:rPr lang="zh-CN" altLang="en-US" dirty="0" smtClean="0"/>
              <a:t>模拟电路、通信</a:t>
            </a:r>
            <a:r>
              <a:rPr lang="zh-CN" altLang="en-US" dirty="0" smtClean="0"/>
              <a:t>电路</a:t>
            </a:r>
            <a:endParaRPr lang="en-US" altLang="zh-CN" dirty="0" smtClean="0"/>
          </a:p>
          <a:p>
            <a:pPr lvl="2"/>
            <a:r>
              <a:rPr lang="zh-CN" altLang="en-US" b="1" dirty="0" smtClean="0"/>
              <a:t>数字信号处理</a:t>
            </a:r>
            <a:r>
              <a:rPr lang="zh-CN" altLang="en-US" dirty="0" smtClean="0"/>
              <a:t>、数字图像处理</a:t>
            </a:r>
            <a:endParaRPr lang="en-US" altLang="zh-CN" dirty="0" smtClean="0"/>
          </a:p>
          <a:p>
            <a:pPr lvl="2"/>
            <a:r>
              <a:rPr lang="en-US" altLang="zh-CN" dirty="0" smtClean="0"/>
              <a:t>…</a:t>
            </a:r>
            <a:endParaRPr lang="zh-CN" altLang="en-US" dirty="0"/>
          </a:p>
        </p:txBody>
      </p:sp>
    </p:spTree>
    <p:extLst>
      <p:ext uri="{BB962C8B-B14F-4D97-AF65-F5344CB8AC3E}">
        <p14:creationId xmlns:p14="http://schemas.microsoft.com/office/powerpoint/2010/main" val="5474753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面试重点</a:t>
            </a:r>
            <a:endParaRPr lang="zh-CN" altLang="en-US" dirty="0"/>
          </a:p>
        </p:txBody>
      </p:sp>
      <p:sp>
        <p:nvSpPr>
          <p:cNvPr id="3" name="内容占位符 2"/>
          <p:cNvSpPr>
            <a:spLocks noGrp="1"/>
          </p:cNvSpPr>
          <p:nvPr>
            <p:ph idx="1"/>
          </p:nvPr>
        </p:nvSpPr>
        <p:spPr>
          <a:xfrm>
            <a:off x="838200" y="1825624"/>
            <a:ext cx="10515600" cy="4868473"/>
          </a:xfrm>
        </p:spPr>
        <p:txBody>
          <a:bodyPr/>
          <a:lstStyle/>
          <a:p>
            <a:r>
              <a:rPr lang="zh-CN" altLang="en-US" b="1" dirty="0"/>
              <a:t>课</a:t>
            </a:r>
            <a:r>
              <a:rPr lang="zh-CN" altLang="en-US" b="1" dirty="0" smtClean="0"/>
              <a:t>内知识的灵活</a:t>
            </a:r>
            <a:r>
              <a:rPr lang="zh-CN" altLang="en-US" b="1" dirty="0" smtClean="0"/>
              <a:t>运用</a:t>
            </a:r>
            <a:endParaRPr lang="en-US" altLang="zh-CN" b="1" dirty="0" smtClean="0"/>
          </a:p>
          <a:p>
            <a:endParaRPr lang="en-US" altLang="zh-CN" b="1" dirty="0"/>
          </a:p>
          <a:p>
            <a:endParaRPr lang="en-US" altLang="zh-CN" b="1" dirty="0" smtClean="0"/>
          </a:p>
          <a:p>
            <a:r>
              <a:rPr lang="zh-CN" altLang="en-US" b="1" dirty="0" smtClean="0"/>
              <a:t>不同</a:t>
            </a:r>
            <a:r>
              <a:rPr lang="zh-CN" altLang="en-US" b="1" dirty="0" smtClean="0"/>
              <a:t>课程之间的相互</a:t>
            </a:r>
            <a:r>
              <a:rPr lang="zh-CN" altLang="en-US" b="1" dirty="0" smtClean="0"/>
              <a:t>联系</a:t>
            </a:r>
            <a:endParaRPr lang="en-US" altLang="zh-CN" b="1" dirty="0" smtClean="0"/>
          </a:p>
          <a:p>
            <a:endParaRPr lang="en-US" altLang="zh-CN" b="1" dirty="0"/>
          </a:p>
          <a:p>
            <a:endParaRPr lang="en-US" altLang="zh-CN" b="1" dirty="0" smtClean="0"/>
          </a:p>
          <a:p>
            <a:r>
              <a:rPr lang="zh-CN" altLang="en-US" b="1" dirty="0" smtClean="0"/>
              <a:t>面对</a:t>
            </a:r>
            <a:r>
              <a:rPr lang="zh-CN" altLang="en-US" b="1" dirty="0" smtClean="0"/>
              <a:t>未知问题的分析能力 </a:t>
            </a:r>
            <a:r>
              <a:rPr lang="en-US" altLang="zh-CN" b="1" dirty="0" smtClean="0"/>
              <a:t>&amp; </a:t>
            </a:r>
            <a:r>
              <a:rPr lang="zh-CN" altLang="en-US" b="1" dirty="0" smtClean="0"/>
              <a:t>逻辑思维</a:t>
            </a:r>
            <a:endParaRPr lang="en-US" altLang="zh-CN" b="1" dirty="0" smtClean="0"/>
          </a:p>
        </p:txBody>
      </p:sp>
    </p:spTree>
    <p:extLst>
      <p:ext uri="{BB962C8B-B14F-4D97-AF65-F5344CB8AC3E}">
        <p14:creationId xmlns:p14="http://schemas.microsoft.com/office/powerpoint/2010/main" val="282841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需要注意</a:t>
            </a:r>
            <a:endParaRPr lang="zh-CN" altLang="en-US" dirty="0"/>
          </a:p>
        </p:txBody>
      </p:sp>
      <p:sp>
        <p:nvSpPr>
          <p:cNvPr id="3" name="内容占位符 2"/>
          <p:cNvSpPr>
            <a:spLocks noGrp="1"/>
          </p:cNvSpPr>
          <p:nvPr>
            <p:ph idx="1"/>
          </p:nvPr>
        </p:nvSpPr>
        <p:spPr/>
        <p:txBody>
          <a:bodyPr/>
          <a:lstStyle/>
          <a:p>
            <a:r>
              <a:rPr lang="zh-CN" altLang="en-US" b="1" dirty="0" smtClean="0"/>
              <a:t>基础知识一定要</a:t>
            </a:r>
            <a:r>
              <a:rPr lang="zh-CN" altLang="en-US" b="1" dirty="0" smtClean="0"/>
              <a:t>扎实</a:t>
            </a:r>
            <a:endParaRPr lang="en-US" altLang="zh-CN" b="1" dirty="0" smtClean="0"/>
          </a:p>
          <a:p>
            <a:endParaRPr lang="en-US" altLang="zh-CN" b="1" dirty="0"/>
          </a:p>
          <a:p>
            <a:endParaRPr lang="en-US" altLang="zh-CN" b="1" dirty="0" smtClean="0"/>
          </a:p>
          <a:p>
            <a:r>
              <a:rPr lang="zh-CN" altLang="en-US" b="1" dirty="0" smtClean="0"/>
              <a:t>问题</a:t>
            </a:r>
            <a:r>
              <a:rPr lang="zh-CN" altLang="en-US" b="1" dirty="0" smtClean="0"/>
              <a:t>会涉及极易忽视的</a:t>
            </a:r>
            <a:r>
              <a:rPr lang="zh-CN" altLang="en-US" b="1" dirty="0" smtClean="0"/>
              <a:t>细节</a:t>
            </a:r>
            <a:endParaRPr lang="en-US" altLang="zh-CN" b="1" dirty="0" smtClean="0"/>
          </a:p>
          <a:p>
            <a:endParaRPr lang="en-US" altLang="zh-CN" b="1" dirty="0"/>
          </a:p>
          <a:p>
            <a:endParaRPr lang="en-US" altLang="zh-CN" b="1" dirty="0" smtClean="0"/>
          </a:p>
          <a:p>
            <a:r>
              <a:rPr lang="zh-CN" altLang="en-US" b="1" dirty="0" smtClean="0"/>
              <a:t>部分</a:t>
            </a:r>
            <a:r>
              <a:rPr lang="zh-CN" altLang="en-US" b="1" dirty="0" smtClean="0"/>
              <a:t>问题考验灵活应用</a:t>
            </a:r>
            <a:endParaRPr lang="en-US" altLang="zh-CN" b="1" dirty="0" smtClean="0"/>
          </a:p>
          <a:p>
            <a:pPr lvl="1"/>
            <a:endParaRPr lang="zh-CN" altLang="en-US" dirty="0"/>
          </a:p>
        </p:txBody>
      </p:sp>
    </p:spTree>
    <p:extLst>
      <p:ext uri="{BB962C8B-B14F-4D97-AF65-F5344CB8AC3E}">
        <p14:creationId xmlns:p14="http://schemas.microsoft.com/office/powerpoint/2010/main" val="24580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我的准备过程</a:t>
            </a:r>
            <a:r>
              <a:rPr lang="en-US" altLang="zh-CN" dirty="0" smtClean="0"/>
              <a:t>——</a:t>
            </a:r>
            <a:r>
              <a:rPr lang="zh-CN" altLang="en-US" dirty="0" smtClean="0"/>
              <a:t>大二 </a:t>
            </a:r>
            <a:r>
              <a:rPr lang="en-US" altLang="zh-CN" dirty="0" smtClean="0"/>
              <a:t>&amp; </a:t>
            </a:r>
            <a:r>
              <a:rPr lang="zh-CN" altLang="en-US" dirty="0" smtClean="0"/>
              <a:t>大三</a:t>
            </a:r>
            <a:endParaRPr lang="zh-CN" altLang="en-US" dirty="0"/>
          </a:p>
        </p:txBody>
      </p:sp>
      <p:sp>
        <p:nvSpPr>
          <p:cNvPr id="3" name="内容占位符 2"/>
          <p:cNvSpPr>
            <a:spLocks noGrp="1"/>
          </p:cNvSpPr>
          <p:nvPr>
            <p:ph idx="1"/>
          </p:nvPr>
        </p:nvSpPr>
        <p:spPr>
          <a:xfrm>
            <a:off x="838200" y="1690688"/>
            <a:ext cx="10515600" cy="4687319"/>
          </a:xfrm>
        </p:spPr>
        <p:txBody>
          <a:bodyPr>
            <a:normAutofit/>
          </a:bodyPr>
          <a:lstStyle/>
          <a:p>
            <a:r>
              <a:rPr lang="zh-CN" altLang="en-US" dirty="0" smtClean="0"/>
              <a:t>数学性强的课程</a:t>
            </a:r>
            <a:endParaRPr lang="en-US" altLang="zh-CN" dirty="0" smtClean="0"/>
          </a:p>
          <a:p>
            <a:pPr lvl="1"/>
            <a:r>
              <a:rPr lang="zh-CN" altLang="en-US" dirty="0" smtClean="0"/>
              <a:t>复</a:t>
            </a:r>
            <a:r>
              <a:rPr lang="zh-CN" altLang="en-US" dirty="0"/>
              <a:t>变</a:t>
            </a:r>
            <a:r>
              <a:rPr lang="zh-CN" altLang="en-US" dirty="0" smtClean="0"/>
              <a:t>、电电、信号</a:t>
            </a:r>
            <a:r>
              <a:rPr lang="zh-CN" altLang="en-US" dirty="0"/>
              <a:t>与系统、</a:t>
            </a:r>
            <a:r>
              <a:rPr lang="zh-CN" altLang="en-US" dirty="0" smtClean="0"/>
              <a:t>随机过程、通信与网络</a:t>
            </a:r>
            <a:endParaRPr lang="en-US" altLang="zh-CN" dirty="0"/>
          </a:p>
          <a:p>
            <a:pPr lvl="1"/>
            <a:r>
              <a:rPr lang="zh-CN" altLang="en-US" dirty="0" smtClean="0"/>
              <a:t>重视分析、推导过程</a:t>
            </a:r>
            <a:endParaRPr lang="en-US" altLang="zh-CN" dirty="0" smtClean="0"/>
          </a:p>
          <a:p>
            <a:pPr lvl="1"/>
            <a:endParaRPr lang="en-US" altLang="zh-CN" dirty="0" smtClean="0"/>
          </a:p>
          <a:p>
            <a:r>
              <a:rPr lang="zh-CN" altLang="en-US" dirty="0" smtClean="0"/>
              <a:t>物理性强的课程</a:t>
            </a:r>
            <a:endParaRPr lang="en-US" altLang="zh-CN" dirty="0" smtClean="0"/>
          </a:p>
          <a:p>
            <a:pPr lvl="1"/>
            <a:r>
              <a:rPr lang="zh-CN" altLang="en-US" dirty="0" smtClean="0"/>
              <a:t>大物、电磁场与波、量子与统计、固体物理</a:t>
            </a:r>
            <a:endParaRPr lang="en-US" altLang="zh-CN" dirty="0" smtClean="0"/>
          </a:p>
          <a:p>
            <a:pPr lvl="1"/>
            <a:r>
              <a:rPr lang="zh-CN" altLang="en-US" dirty="0" smtClean="0"/>
              <a:t>重视物理含义</a:t>
            </a:r>
            <a:r>
              <a:rPr lang="zh-CN" altLang="en-US" dirty="0"/>
              <a:t>、</a:t>
            </a:r>
            <a:r>
              <a:rPr lang="zh-CN" altLang="en-US" dirty="0" smtClean="0"/>
              <a:t>独立推导公式的能力</a:t>
            </a:r>
            <a:endParaRPr lang="en-US" altLang="zh-CN" dirty="0" smtClean="0"/>
          </a:p>
          <a:p>
            <a:pPr lvl="1"/>
            <a:endParaRPr lang="en-US" altLang="zh-CN" dirty="0"/>
          </a:p>
          <a:p>
            <a:r>
              <a:rPr lang="zh-CN" altLang="en-US" dirty="0" smtClean="0"/>
              <a:t>计算机类的课程</a:t>
            </a:r>
            <a:endParaRPr lang="en-US" altLang="zh-CN" dirty="0" smtClean="0"/>
          </a:p>
          <a:p>
            <a:pPr lvl="1"/>
            <a:r>
              <a:rPr lang="zh-CN" altLang="en-US" dirty="0" smtClean="0"/>
              <a:t>数据与算法、数字逻辑与处理器、通信与网络</a:t>
            </a:r>
            <a:endParaRPr lang="en-US" altLang="zh-CN" dirty="0" smtClean="0"/>
          </a:p>
          <a:p>
            <a:pPr lvl="1"/>
            <a:r>
              <a:rPr lang="zh-CN" altLang="en-US" dirty="0" smtClean="0"/>
              <a:t>熟记各种结论</a:t>
            </a:r>
            <a:r>
              <a:rPr lang="en-US" altLang="zh-CN" dirty="0"/>
              <a:t> </a:t>
            </a:r>
            <a:r>
              <a:rPr lang="en-US" altLang="zh-CN" dirty="0" smtClean="0"/>
              <a:t>+ </a:t>
            </a:r>
            <a:r>
              <a:rPr lang="zh-CN" altLang="en-US" dirty="0" smtClean="0"/>
              <a:t>多问“为什么”</a:t>
            </a:r>
            <a:endParaRPr lang="zh-CN" altLang="en-US" dirty="0"/>
          </a:p>
        </p:txBody>
      </p:sp>
    </p:spTree>
    <p:extLst>
      <p:ext uri="{BB962C8B-B14F-4D97-AF65-F5344CB8AC3E}">
        <p14:creationId xmlns:p14="http://schemas.microsoft.com/office/powerpoint/2010/main" val="2237088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我的准备</a:t>
            </a:r>
            <a:r>
              <a:rPr lang="zh-CN" altLang="en-US" dirty="0" smtClean="0"/>
              <a:t>过程</a:t>
            </a:r>
            <a:r>
              <a:rPr lang="en-US" altLang="zh-CN" dirty="0" smtClean="0"/>
              <a:t>——</a:t>
            </a:r>
            <a:r>
              <a:rPr lang="zh-CN" altLang="en-US" dirty="0" smtClean="0"/>
              <a:t>大三暑假</a:t>
            </a:r>
            <a:endParaRPr lang="zh-CN" altLang="en-US" dirty="0"/>
          </a:p>
        </p:txBody>
      </p:sp>
      <p:sp>
        <p:nvSpPr>
          <p:cNvPr id="3" name="内容占位符 2"/>
          <p:cNvSpPr>
            <a:spLocks noGrp="1"/>
          </p:cNvSpPr>
          <p:nvPr>
            <p:ph idx="1"/>
          </p:nvPr>
        </p:nvSpPr>
        <p:spPr>
          <a:xfrm>
            <a:off x="838200" y="1825625"/>
            <a:ext cx="10515600" cy="4713198"/>
          </a:xfrm>
        </p:spPr>
        <p:txBody>
          <a:bodyPr/>
          <a:lstStyle/>
          <a:p>
            <a:r>
              <a:rPr lang="zh-CN" altLang="en-US" dirty="0" smtClean="0"/>
              <a:t>第一遍复习（面试前</a:t>
            </a:r>
            <a:r>
              <a:rPr lang="en-US" altLang="zh-CN" dirty="0" smtClean="0"/>
              <a:t>4</a:t>
            </a:r>
            <a:r>
              <a:rPr lang="zh-CN" altLang="en-US" dirty="0" smtClean="0"/>
              <a:t>周</a:t>
            </a:r>
            <a:r>
              <a:rPr lang="en-US" altLang="zh-CN" dirty="0" smtClean="0"/>
              <a:t>~</a:t>
            </a:r>
            <a:r>
              <a:rPr lang="zh-CN" altLang="en-US" dirty="0" smtClean="0"/>
              <a:t>面试前</a:t>
            </a:r>
            <a:r>
              <a:rPr lang="en-US" altLang="zh-CN" dirty="0" smtClean="0"/>
              <a:t>1</a:t>
            </a:r>
            <a:r>
              <a:rPr lang="zh-CN" altLang="en-US" dirty="0" smtClean="0"/>
              <a:t>周）</a:t>
            </a:r>
            <a:endParaRPr lang="en-US" altLang="zh-CN" dirty="0" smtClean="0"/>
          </a:p>
          <a:p>
            <a:pPr lvl="1"/>
            <a:r>
              <a:rPr lang="zh-CN" altLang="en-US" dirty="0" smtClean="0"/>
              <a:t>熟悉</a:t>
            </a:r>
            <a:r>
              <a:rPr lang="zh-CN" altLang="en-US" b="1" dirty="0" smtClean="0"/>
              <a:t>所有</a:t>
            </a:r>
            <a:r>
              <a:rPr lang="zh-CN" altLang="en-US" dirty="0" smtClean="0"/>
              <a:t>基本概念</a:t>
            </a:r>
            <a:endParaRPr lang="en-US" altLang="zh-CN" dirty="0" smtClean="0"/>
          </a:p>
          <a:p>
            <a:pPr lvl="1"/>
            <a:r>
              <a:rPr lang="zh-CN" altLang="en-US" b="1" dirty="0" smtClean="0"/>
              <a:t>梳理</a:t>
            </a:r>
            <a:r>
              <a:rPr lang="en-US" altLang="zh-CN" b="1" dirty="0" smtClean="0"/>
              <a:t>+</a:t>
            </a:r>
            <a:r>
              <a:rPr lang="zh-CN" altLang="en-US" b="1" dirty="0"/>
              <a:t>理解</a:t>
            </a:r>
            <a:r>
              <a:rPr lang="zh-CN" altLang="en-US" b="1" dirty="0" smtClean="0"/>
              <a:t>所有概念背后的逻辑</a:t>
            </a:r>
            <a:r>
              <a:rPr lang="zh-CN" altLang="en-US" b="1" dirty="0" smtClean="0"/>
              <a:t>关系（类似思维导图）</a:t>
            </a:r>
            <a:endParaRPr lang="en-US" altLang="zh-CN" b="1" dirty="0" smtClean="0"/>
          </a:p>
          <a:p>
            <a:pPr lvl="1"/>
            <a:r>
              <a:rPr lang="zh-CN" altLang="en-US" b="1" dirty="0" smtClean="0"/>
              <a:t>弄懂所有结论性观点的原因和分析方法</a:t>
            </a:r>
            <a:endParaRPr lang="en-US" altLang="zh-CN" b="1" dirty="0" smtClean="0"/>
          </a:p>
          <a:p>
            <a:r>
              <a:rPr lang="zh-CN" altLang="en-US" dirty="0"/>
              <a:t>第二</a:t>
            </a:r>
            <a:r>
              <a:rPr lang="zh-CN" altLang="en-US" dirty="0" smtClean="0"/>
              <a:t>遍复习（面试前</a:t>
            </a:r>
            <a:r>
              <a:rPr lang="en-US" altLang="zh-CN" dirty="0" smtClean="0"/>
              <a:t>7</a:t>
            </a:r>
            <a:r>
              <a:rPr lang="zh-CN" altLang="en-US" dirty="0" smtClean="0"/>
              <a:t>天</a:t>
            </a:r>
            <a:r>
              <a:rPr lang="en-US" altLang="zh-CN" dirty="0" smtClean="0"/>
              <a:t>~</a:t>
            </a:r>
            <a:r>
              <a:rPr lang="zh-CN" altLang="en-US" dirty="0" smtClean="0"/>
              <a:t>面试前</a:t>
            </a:r>
            <a:r>
              <a:rPr lang="en-US" altLang="zh-CN" dirty="0" smtClean="0"/>
              <a:t>3</a:t>
            </a:r>
            <a:r>
              <a:rPr lang="zh-CN" altLang="en-US" dirty="0" smtClean="0"/>
              <a:t>天）</a:t>
            </a:r>
            <a:endParaRPr lang="en-US" altLang="zh-CN" dirty="0" smtClean="0"/>
          </a:p>
          <a:p>
            <a:pPr lvl="1"/>
            <a:r>
              <a:rPr lang="zh-CN" altLang="en-US" dirty="0" smtClean="0"/>
              <a:t>重新整理知识点，查缺补漏</a:t>
            </a:r>
            <a:endParaRPr lang="en-US" altLang="zh-CN" dirty="0"/>
          </a:p>
          <a:p>
            <a:pPr lvl="1"/>
            <a:r>
              <a:rPr lang="zh-CN" altLang="en-US" dirty="0" smtClean="0"/>
              <a:t>熟记各种概念的定义和物理含义</a:t>
            </a:r>
            <a:endParaRPr lang="en-US" altLang="zh-CN" dirty="0"/>
          </a:p>
          <a:p>
            <a:r>
              <a:rPr lang="zh-CN" altLang="en-US" dirty="0" smtClean="0"/>
              <a:t>第三遍复习（面试前</a:t>
            </a:r>
            <a:r>
              <a:rPr lang="en-US" altLang="zh-CN" dirty="0" smtClean="0"/>
              <a:t>3</a:t>
            </a:r>
            <a:r>
              <a:rPr lang="zh-CN" altLang="en-US" dirty="0" smtClean="0"/>
              <a:t>天</a:t>
            </a:r>
            <a:r>
              <a:rPr lang="en-US" altLang="zh-CN" dirty="0" smtClean="0"/>
              <a:t>~</a:t>
            </a:r>
            <a:r>
              <a:rPr lang="zh-CN" altLang="en-US" dirty="0" smtClean="0"/>
              <a:t>面试前</a:t>
            </a:r>
            <a:r>
              <a:rPr lang="en-US" altLang="zh-CN" dirty="0" smtClean="0"/>
              <a:t>1</a:t>
            </a:r>
            <a:r>
              <a:rPr lang="zh-CN" altLang="en-US" dirty="0" smtClean="0"/>
              <a:t>天）</a:t>
            </a:r>
            <a:endParaRPr lang="en-US" altLang="zh-CN" dirty="0" smtClean="0"/>
          </a:p>
          <a:p>
            <a:pPr lvl="1"/>
            <a:r>
              <a:rPr lang="zh-CN" altLang="en-US" dirty="0" smtClean="0"/>
              <a:t>看面经，补充没复习到的部分</a:t>
            </a:r>
            <a:endParaRPr lang="en-US" altLang="zh-CN" dirty="0" smtClean="0"/>
          </a:p>
          <a:p>
            <a:pPr lvl="1"/>
            <a:r>
              <a:rPr lang="zh-CN" altLang="en-US" dirty="0" smtClean="0"/>
              <a:t>尝试主动分析面经问题，锻炼思路</a:t>
            </a:r>
            <a:endParaRPr lang="en-US" altLang="zh-CN" dirty="0"/>
          </a:p>
          <a:p>
            <a:pPr lvl="1"/>
            <a:r>
              <a:rPr lang="zh-CN" altLang="en-US" dirty="0" smtClean="0"/>
              <a:t>准备中文 </a:t>
            </a:r>
            <a:r>
              <a:rPr lang="en-US" altLang="zh-CN" dirty="0" smtClean="0"/>
              <a:t>&amp; </a:t>
            </a:r>
            <a:r>
              <a:rPr lang="zh-CN" altLang="en-US" dirty="0" smtClean="0"/>
              <a:t>英文自我介绍</a:t>
            </a:r>
            <a:endParaRPr lang="en-US" altLang="zh-CN" dirty="0" smtClean="0"/>
          </a:p>
        </p:txBody>
      </p:sp>
    </p:spTree>
    <p:extLst>
      <p:ext uri="{BB962C8B-B14F-4D97-AF65-F5344CB8AC3E}">
        <p14:creationId xmlns:p14="http://schemas.microsoft.com/office/powerpoint/2010/main" val="4100378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给</a:t>
            </a:r>
            <a:r>
              <a:rPr lang="en-US" altLang="zh-CN" dirty="0" smtClean="0"/>
              <a:t>6</a:t>
            </a:r>
            <a:r>
              <a:rPr lang="zh-CN" altLang="en-US" dirty="0" smtClean="0"/>
              <a:t>字班同学的建议</a:t>
            </a:r>
            <a:endParaRPr lang="zh-CN" altLang="en-US" dirty="0"/>
          </a:p>
        </p:txBody>
      </p:sp>
      <p:sp>
        <p:nvSpPr>
          <p:cNvPr id="3" name="内容占位符 2"/>
          <p:cNvSpPr>
            <a:spLocks noGrp="1"/>
          </p:cNvSpPr>
          <p:nvPr>
            <p:ph idx="1"/>
          </p:nvPr>
        </p:nvSpPr>
        <p:spPr>
          <a:xfrm>
            <a:off x="838200" y="1825624"/>
            <a:ext cx="10515600" cy="4833967"/>
          </a:xfrm>
        </p:spPr>
        <p:txBody>
          <a:bodyPr>
            <a:normAutofit/>
          </a:bodyPr>
          <a:lstStyle/>
          <a:p>
            <a:r>
              <a:rPr lang="zh-CN" altLang="en-US" dirty="0" smtClean="0"/>
              <a:t>在课程初学时</a:t>
            </a:r>
            <a:r>
              <a:rPr lang="zh-CN" altLang="en-US" b="1" dirty="0" smtClean="0"/>
              <a:t>打牢基础</a:t>
            </a:r>
            <a:endParaRPr lang="en-US" altLang="zh-CN" b="1" dirty="0" smtClean="0"/>
          </a:p>
          <a:p>
            <a:pPr lvl="1"/>
            <a:r>
              <a:rPr lang="zh-CN" altLang="en-US" dirty="0" smtClean="0"/>
              <a:t>准备面试时不会有陌生感，速度快而且省力</a:t>
            </a:r>
            <a:endParaRPr lang="en-US" altLang="zh-CN" dirty="0" smtClean="0"/>
          </a:p>
          <a:p>
            <a:pPr lvl="1"/>
            <a:r>
              <a:rPr lang="zh-CN" altLang="en-US" dirty="0" smtClean="0"/>
              <a:t>所有的灵活应用都是建立在扎实的基础</a:t>
            </a:r>
            <a:r>
              <a:rPr lang="zh-CN" altLang="en-US" dirty="0" smtClean="0"/>
              <a:t>上</a:t>
            </a:r>
            <a:endParaRPr lang="en-US" altLang="zh-CN" dirty="0" smtClean="0"/>
          </a:p>
          <a:p>
            <a:pPr lvl="1"/>
            <a:endParaRPr lang="en-US" altLang="zh-CN" dirty="0" smtClean="0"/>
          </a:p>
          <a:p>
            <a:r>
              <a:rPr lang="zh-CN" altLang="en-US" dirty="0" smtClean="0"/>
              <a:t>不要停留在会做作业、会做考试题上</a:t>
            </a:r>
            <a:endParaRPr lang="en-US" altLang="zh-CN" dirty="0" smtClean="0"/>
          </a:p>
          <a:p>
            <a:pPr lvl="1"/>
            <a:r>
              <a:rPr lang="zh-CN" altLang="en-US" dirty="0"/>
              <a:t>推</a:t>
            </a:r>
            <a:r>
              <a:rPr lang="zh-CN" altLang="en-US" dirty="0" smtClean="0"/>
              <a:t>研时关注分析问题（课题）的思路和能力，不关注解题技巧</a:t>
            </a:r>
            <a:endParaRPr lang="en-US" altLang="zh-CN" dirty="0" smtClean="0"/>
          </a:p>
          <a:p>
            <a:pPr lvl="1"/>
            <a:r>
              <a:rPr lang="zh-CN" altLang="en-US" dirty="0" smtClean="0"/>
              <a:t>平时学习时尽量追求</a:t>
            </a:r>
            <a:r>
              <a:rPr lang="zh-CN" altLang="en-US" b="1" dirty="0" smtClean="0"/>
              <a:t>理解（能独立推导）</a:t>
            </a:r>
            <a:r>
              <a:rPr lang="zh-CN" altLang="en-US" dirty="0" smtClean="0"/>
              <a:t>，而不是</a:t>
            </a:r>
            <a:r>
              <a:rPr lang="zh-CN" altLang="en-US" b="1" dirty="0" smtClean="0"/>
              <a:t>记住</a:t>
            </a:r>
            <a:endParaRPr lang="en-US" altLang="zh-CN" b="1" dirty="0" smtClean="0"/>
          </a:p>
          <a:p>
            <a:pPr lvl="1"/>
            <a:endParaRPr lang="en-US" altLang="zh-CN" dirty="0" smtClean="0"/>
          </a:p>
          <a:p>
            <a:r>
              <a:rPr lang="zh-CN" altLang="en-US" dirty="0" smtClean="0"/>
              <a:t>不能全部寄希望于面试复习</a:t>
            </a:r>
            <a:endParaRPr lang="en-US" altLang="zh-CN" dirty="0" smtClean="0"/>
          </a:p>
          <a:p>
            <a:pPr lvl="1"/>
            <a:r>
              <a:rPr lang="zh-CN" altLang="en-US" dirty="0" smtClean="0"/>
              <a:t>时间精力都有限，压力不宜过大</a:t>
            </a:r>
            <a:endParaRPr lang="en-US" altLang="zh-CN" dirty="0" smtClean="0"/>
          </a:p>
          <a:p>
            <a:pPr lvl="1"/>
            <a:r>
              <a:rPr lang="zh-CN" altLang="en-US" dirty="0" smtClean="0"/>
              <a:t>逻辑思维能力需要积累</a:t>
            </a:r>
            <a:endParaRPr lang="en-US" altLang="zh-CN" dirty="0" smtClean="0"/>
          </a:p>
          <a:p>
            <a:pPr lvl="1"/>
            <a:endParaRPr lang="en-US" altLang="zh-CN" dirty="0" smtClean="0"/>
          </a:p>
        </p:txBody>
      </p:sp>
    </p:spTree>
    <p:extLst>
      <p:ext uri="{BB962C8B-B14F-4D97-AF65-F5344CB8AC3E}">
        <p14:creationId xmlns:p14="http://schemas.microsoft.com/office/powerpoint/2010/main" val="264940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48713" y="2751439"/>
            <a:ext cx="9144000" cy="1055086"/>
          </a:xfrm>
        </p:spPr>
        <p:txBody>
          <a:bodyPr>
            <a:normAutofit/>
          </a:bodyPr>
          <a:lstStyle/>
          <a:p>
            <a:r>
              <a:rPr lang="zh-CN" altLang="en-US" dirty="0" smtClean="0"/>
              <a:t>谢谢！</a:t>
            </a:r>
            <a:endParaRPr lang="zh-CN" altLang="en-US" dirty="0"/>
          </a:p>
        </p:txBody>
      </p:sp>
    </p:spTree>
    <p:extLst>
      <p:ext uri="{BB962C8B-B14F-4D97-AF65-F5344CB8AC3E}">
        <p14:creationId xmlns:p14="http://schemas.microsoft.com/office/powerpoint/2010/main" val="354550497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1112</Words>
  <Application>Microsoft Office PowerPoint</Application>
  <PresentationFormat>宽屏</PresentationFormat>
  <Paragraphs>138</Paragraphs>
  <Slides>14</Slides>
  <Notes>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等线</vt:lpstr>
      <vt:lpstr>等线 Light</vt:lpstr>
      <vt:lpstr>Arial</vt:lpstr>
      <vt:lpstr>Wingdings</vt:lpstr>
      <vt:lpstr>Office 主题​​</vt:lpstr>
      <vt:lpstr>本系推研</vt:lpstr>
      <vt:lpstr>基本情况</vt:lpstr>
      <vt:lpstr>一些基本概念</vt:lpstr>
      <vt:lpstr>固定名额 &amp; 非固定名额</vt:lpstr>
      <vt:lpstr>面试</vt:lpstr>
      <vt:lpstr>推研难不难？</vt:lpstr>
      <vt:lpstr>如何准备</vt:lpstr>
      <vt:lpstr>面试内容</vt:lpstr>
      <vt:lpstr>面试重点</vt:lpstr>
      <vt:lpstr>需要注意</vt:lpstr>
      <vt:lpstr>我的准备过程——大二 &amp; 大三</vt:lpstr>
      <vt:lpstr>我的准备过程——大三暑假</vt:lpstr>
      <vt:lpstr>给6字班同学的建议</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本系推研</dc:title>
  <dc:creator>陈誉博</dc:creator>
  <cp:lastModifiedBy>陈誉博</cp:lastModifiedBy>
  <cp:revision>38</cp:revision>
  <dcterms:created xsi:type="dcterms:W3CDTF">2017-12-07T13:46:14Z</dcterms:created>
  <dcterms:modified xsi:type="dcterms:W3CDTF">2017-12-08T03:07:49Z</dcterms:modified>
</cp:coreProperties>
</file>